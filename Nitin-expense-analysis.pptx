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8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Expense (INR)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905-42F0-AED5-324D01CA68F2}"/>
              </c:ext>
            </c:extLst>
          </c:dPt>
          <c:dPt>
            <c:idx val="1"/>
            <c:bubble3D val="0"/>
            <c:spPr>
              <a:solidFill>
                <a:srgbClr val="5FA8D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905-42F0-AED5-324D01CA68F2}"/>
              </c:ext>
            </c:extLst>
          </c:dPt>
          <c:dPt>
            <c:idx val="2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905-42F0-AED5-324D01CA68F2}"/>
              </c:ext>
            </c:extLst>
          </c:dPt>
          <c:dPt>
            <c:idx val="3"/>
            <c:bubble3D val="0"/>
            <c:spPr>
              <a:solidFill>
                <a:srgbClr val="D978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905-42F0-AED5-324D01CA68F2}"/>
              </c:ext>
            </c:extLst>
          </c:dPt>
          <c:dPt>
            <c:idx val="4"/>
            <c:bubble3D val="0"/>
            <c:spPr>
              <a:solidFill>
                <a:srgbClr val="7FB9A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905-42F0-AED5-324D01CA68F2}"/>
              </c:ext>
            </c:extLst>
          </c:dPt>
          <c:dPt>
            <c:idx val="5"/>
            <c:bubble3D val="0"/>
            <c:spPr>
              <a:solidFill>
                <a:srgbClr val="9AA5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905-42F0-AED5-324D01CA68F2}"/>
              </c:ext>
            </c:extLst>
          </c:dPt>
          <c:dPt>
            <c:idx val="6"/>
            <c:bubble3D val="0"/>
            <c:spPr>
              <a:solidFill>
                <a:srgbClr val="B076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905-42F0-AED5-324D01CA68F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905-42F0-AED5-324D01CA68F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905-42F0-AED5-324D01CA68F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905-42F0-AED5-324D01CA68F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905-42F0-AED5-324D01CA68F2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905-42F0-AED5-324D01CA68F2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905-42F0-AED5-324D01CA68F2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905-42F0-AED5-324D01CA68F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Grocery</c:v>
                </c:pt>
                <c:pt idx="1">
                  <c:v>Shopping</c:v>
                </c:pt>
                <c:pt idx="2">
                  <c:v>Ticket and Bills</c:v>
                </c:pt>
                <c:pt idx="3">
                  <c:v>Entertainment</c:v>
                </c:pt>
                <c:pt idx="4">
                  <c:v>Food</c:v>
                </c:pt>
                <c:pt idx="5">
                  <c:v>Miscellaneous</c:v>
                </c:pt>
                <c:pt idx="6">
                  <c:v>Doctor and Medicine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4690</c:v>
                </c:pt>
                <c:pt idx="1">
                  <c:v>3500</c:v>
                </c:pt>
                <c:pt idx="2">
                  <c:v>2570</c:v>
                </c:pt>
                <c:pt idx="3">
                  <c:v>1000</c:v>
                </c:pt>
                <c:pt idx="4">
                  <c:v>850</c:v>
                </c:pt>
                <c:pt idx="5">
                  <c:v>500</c:v>
                </c:pt>
                <c:pt idx="6">
                  <c:v>450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905-42F0-AED5-324D01CA68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63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6F8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 (INR)</c:v>
                </c:pt>
              </c:strCache>
            </c:strRef>
          </c:tx>
          <c:spPr>
            <a:solidFill>
              <a:srgbClr val="D978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263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Movie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43-4E49-8AA1-DC58785E11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6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63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 (INR)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263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House help</c:v>
                </c:pt>
                <c:pt idx="1">
                  <c:v>Gas</c:v>
                </c:pt>
                <c:pt idx="2">
                  <c:v>Electricity bill</c:v>
                </c:pt>
                <c:pt idx="3">
                  <c:v>Railway monthly ticket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</c:v>
                </c:pt>
                <c:pt idx="1">
                  <c:v>850</c:v>
                </c:pt>
                <c:pt idx="2">
                  <c:v>370</c:v>
                </c:pt>
                <c:pt idx="3">
                  <c:v>350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0D-4B0D-A6B3-3FC02C8B57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6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63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Expense (INR)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13900</c:v>
                </c:pt>
                <c:pt idx="1">
                  <c:v>15620</c:v>
                </c:pt>
                <c:pt idx="2">
                  <c:v>13140</c:v>
                </c:pt>
                <c:pt idx="3">
                  <c:v>14800</c:v>
                </c:pt>
                <c:pt idx="4">
                  <c:v>13370</c:v>
                </c:pt>
                <c:pt idx="5">
                  <c:v>13560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68C-4112-8AFF-42A58F45CE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6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000"/>
          <c:min val="11500"/>
        </c:scaling>
        <c:delete val="0"/>
        <c:axPos val="l"/>
        <c:majorGridlines>
          <c:spPr>
            <a:ln w="9525" cap="flat">
              <a:solidFill>
                <a:srgbClr val="E3E7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63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</c:v>
                </c:pt>
              </c:strCache>
            </c:strRef>
          </c:tx>
          <c:spPr>
            <a:solidFill>
              <a:srgbClr val="D978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2263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250</c:v>
                </c:pt>
                <c:pt idx="1">
                  <c:v>0</c:v>
                </c:pt>
                <c:pt idx="2">
                  <c:v>500</c:v>
                </c:pt>
                <c:pt idx="3">
                  <c:v>250</c:v>
                </c:pt>
                <c:pt idx="4">
                  <c:v>500</c:v>
                </c:pt>
                <c:pt idx="5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DA-44B9-9575-D491419DAE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Dining out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2263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1000</c:v>
                </c:pt>
                <c:pt idx="1">
                  <c:v>0</c:v>
                </c:pt>
                <c:pt idx="2">
                  <c:v>800</c:v>
                </c:pt>
                <c:pt idx="3">
                  <c:v>850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DA-44B9-9575-D491419DAE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6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63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3947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7980" y="-1198880"/>
            <a:ext cx="4429760" cy="4582160"/>
          </a:xfrm>
          <a:prstGeom prst="ellipse">
            <a:avLst/>
          </a:prstGeom>
          <a:solidFill>
            <a:srgbClr val="141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32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 ANALYTICS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Helping Nitin Spend Smarter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Pivot-Table Analysis of a Month's and Six Months' Personal Expenses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822959" y="4082473"/>
            <a:ext cx="7646785" cy="609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Ashritha A</a:t>
            </a:r>
            <a:endParaRPr lang="en-US" sz="1600" dirty="0"/>
          </a:p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Computer Science</a:t>
            </a:r>
            <a:endParaRPr lang="en-US" sz="1600" dirty="0"/>
          </a:p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23-09-2026</a:t>
            </a:r>
            <a:endParaRPr lang="en-US" sz="16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June Expense Log  •  Six-Month Expense Log (Jan–Jun)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6492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68680" y="182880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Nitin</a:t>
            </a: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works as a Graphic Designer and earns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15,000</a:t>
            </a: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month. He wants to buy a scooter for his daily commute — but for the last couple of months he hasn't been able to save anything toward it.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 friend Ayush's advice: </a:t>
            </a:r>
            <a:r>
              <a:rPr lang="en-US" sz="1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“figure out where the money goes, and cut the expense that matters least.”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8920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Nitin's spending with pivot tables and charts to find exactly where his money goes — and help him increase his monthly savings.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269480" y="1508760"/>
            <a:ext cx="4434840" cy="448056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58952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21214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15,000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7589520" y="3063240"/>
            <a:ext cx="379476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58952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EXPENSE (SAMPLE)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34930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13,560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4114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income spent — almost nothing left to save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0" y="4709160"/>
            <a:ext cx="379476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589520" y="4892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513892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up money every month toward a scooter fund.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 Analytics  |  Nitin's Expense Study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26517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 Sets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08960"/>
            <a:ext cx="2148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detailed day-by-day log for June, and a six-month log (Jan–Jun) grouped by month, category and item.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56616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5661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6517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108960"/>
            <a:ext cx="2148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Summarised expenses by category, item and month to see where the money actually goes.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6916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0080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4008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6517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Charts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108960"/>
            <a:ext cx="2148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the tables into bar, pie and line charts to compare categories and track trends at a glance.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06840" y="16916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23544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92354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26517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&amp; Data Bars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3108960"/>
            <a:ext cx="2148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specific categories and used conditional-formatting data bars to instantly spot the biggest items.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 Analytics  |  Nitin's Expense Study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JUNE DATA · TASK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Category-wise Expense (Pivot Table)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5852160" cy="42062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Spent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4,690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3,500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and Bills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2,570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Entertainment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850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Miscellaneous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and Medicine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450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13,560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29400" y="160020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6949440" y="1874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READ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21945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Grocery</a:t>
            </a:r>
            <a:r>
              <a:rPr lang="en-US" sz="1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Nitin's single biggest expense — </a:t>
            </a: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4,690, or 34.6%</a:t>
            </a:r>
            <a:r>
              <a:rPr lang="en-US" sz="1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of everything he spent in June.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35661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+ Shopping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account for over </a:t>
            </a: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June's spending.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5212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Rows = Category, Values = Sum of Expense (INR)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 Analytics  |  Nitin's Expense Study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JUNE DATA · TASK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of Expense by Category (Pivot Chart)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63040"/>
          <a:ext cx="64922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178040" y="1600200"/>
            <a:ext cx="45262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49808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CHART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1945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 third</a:t>
            </a:r>
            <a:r>
              <a:rPr lang="en-US" sz="13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every rupee Nitin spends goes to groceries — essential, but the biggest single slice.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32004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(25.8%) and Ticket &amp; Bills (19%)</a:t>
            </a:r>
            <a:r>
              <a:rPr lang="en-US" sz="13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make up the next-largest slices — together with Grocery, </a:t>
            </a:r>
            <a:r>
              <a:rPr lang="en-US" sz="1300" b="1" dirty="0">
                <a:solidFill>
                  <a:srgbClr val="D97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categories drive ~80%</a:t>
            </a:r>
            <a:r>
              <a:rPr lang="en-US" sz="13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total spend.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45262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Entertainment, Food, Misc. and Doctor together</a:t>
            </a:r>
            <a:r>
              <a:rPr lang="en-US" sz="13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only ~20% — small individually, but this is where discretionary cuts hurt the least.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 Analytics  |  Nitin's Expense Study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JUNE DATA · TASK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Item-wise Expense within Each Category (Pivot Table)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5577840" cy="45720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Tshirt and Jeans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2,500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1,690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Foodgrains and cereals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1,050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and Bills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 help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Entertainment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and Bills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850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650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Food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554480"/>
          <a:ext cx="5532120" cy="420624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and spices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550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 and bakery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Miscellaneous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Sister's birthday gift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and Medicine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Mother's Medicine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450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and Bills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Electricity bill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370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and Bills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Railway monthly ticket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Chips and Fries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Beverages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6172200" y="589788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D97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single item: Tshirt and Jeans (Shopping) — Rs 2,500 in one purchase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 Analytics  |  Nitin's Expense Study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JUNE DATA · TASK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Entertainment &amp; Ticket/Bills — Item Breakdown (Pivot Chart)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828800"/>
          <a:ext cx="53035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794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in June = just one item: 4 movie trips totalling Rs 1,000.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508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and Bills</a:t>
            </a:r>
            <a:endParaRPr lang="en-US" sz="14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217920" y="1828800"/>
          <a:ext cx="54864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5262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 txBox="1"/>
          <p:nvPr/>
        </p:nvSpPr>
        <p:spPr>
          <a:xfrm>
            <a:off x="731520" y="468172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movie outings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June cost Rs 1,000 — the whole Entertainment budget was spent at the cinema.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 Analytics  |  Nitin's Expense Study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JUNE DATA · TASK 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Count by Item — Grocery &amp; Shopping Filter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02920" y="1508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Filtered: Grocery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5349240" cy="2743202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1,690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650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 and bakery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Foodgrains and cereals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1,050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and spices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550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Beverages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309360" y="15087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Filtered: Shopping</a:t>
            </a:r>
            <a:endParaRPr lang="en-US" sz="13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28800"/>
          <a:ext cx="5394960" cy="123444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Tshirt and Jeans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2,500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5"/>
          <p:cNvSpPr/>
          <p:nvPr/>
        </p:nvSpPr>
        <p:spPr>
          <a:xfrm>
            <a:off x="6309360" y="333756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 txBox="1"/>
          <p:nvPr/>
        </p:nvSpPr>
        <p:spPr>
          <a:xfrm>
            <a:off x="6629400" y="3566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4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PURCHASES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629400" y="38862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4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Vegetables (5×)</a:t>
            </a:r>
            <a:r>
              <a:rPr lang="en-US" sz="1300" dirty="0">
                <a:solidFill>
                  <a:srgbClr val="14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00" b="1" dirty="0">
                <a:solidFill>
                  <a:srgbClr val="14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(4×)</a:t>
            </a:r>
            <a:r>
              <a:rPr lang="en-US" sz="1300" dirty="0">
                <a:solidFill>
                  <a:srgbClr val="14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bought most often — small, frequent trips add up to Rs 2,340 across the month.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629400" y="48920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4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</a:t>
            </a:r>
            <a:r>
              <a:rPr lang="en-US" sz="1300" dirty="0">
                <a:solidFill>
                  <a:srgbClr val="14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only 2 transactions — but at Rs 3,500, it's a case of </a:t>
            </a:r>
            <a:r>
              <a:rPr lang="en-US" sz="1300" b="1" dirty="0">
                <a:solidFill>
                  <a:srgbClr val="14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frequency, high impact.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 Analytics  |  Nitin's Expense Study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JUNE DATA · TASK 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2 Categories by Item — with Data Bars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02920" y="1600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(Highest Expense Category)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0116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16936" y="2112264"/>
            <a:ext cx="2414016" cy="256032"/>
          </a:xfrm>
          <a:prstGeom prst="rect">
            <a:avLst/>
          </a:prstGeom>
          <a:solidFill>
            <a:srgbClr val="E9ED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916936" y="2112264"/>
            <a:ext cx="2414016" cy="25603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04104" y="2011680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1,690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57860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Foodgrains and cereals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16936" y="2679192"/>
            <a:ext cx="2414016" cy="256032"/>
          </a:xfrm>
          <a:prstGeom prst="rect">
            <a:avLst/>
          </a:prstGeom>
          <a:solidFill>
            <a:srgbClr val="E9ED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916936" y="2679192"/>
            <a:ext cx="1499832" cy="25603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404104" y="2578608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1,050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145536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16936" y="3246120"/>
            <a:ext cx="2414016" cy="256032"/>
          </a:xfrm>
          <a:prstGeom prst="rect">
            <a:avLst/>
          </a:prstGeom>
          <a:solidFill>
            <a:srgbClr val="E9ED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916936" y="3246120"/>
            <a:ext cx="928468" cy="25603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04104" y="3145536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650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712464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and spices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916936" y="3813048"/>
            <a:ext cx="2414016" cy="256032"/>
          </a:xfrm>
          <a:prstGeom prst="rect">
            <a:avLst/>
          </a:prstGeom>
          <a:solidFill>
            <a:srgbClr val="E9ED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916936" y="3813048"/>
            <a:ext cx="785627" cy="25603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404104" y="3712464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550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427939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 and bakery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916936" y="4379976"/>
            <a:ext cx="2414016" cy="256032"/>
          </a:xfrm>
          <a:prstGeom prst="rect">
            <a:avLst/>
          </a:prstGeom>
          <a:solidFill>
            <a:srgbClr val="E9ED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916936" y="4379976"/>
            <a:ext cx="714206" cy="25603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5404104" y="4279392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500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484632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916936" y="4946904"/>
            <a:ext cx="2414016" cy="256032"/>
          </a:xfrm>
          <a:prstGeom prst="rect">
            <a:avLst/>
          </a:prstGeom>
          <a:solidFill>
            <a:srgbClr val="E9ED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916936" y="4946904"/>
            <a:ext cx="357103" cy="25603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5404104" y="4846320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250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160020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(2nd-Highest Expense Category)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2011680"/>
            <a:ext cx="22850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Tshirt and Jeans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657539" y="2112264"/>
            <a:ext cx="2393899" cy="256032"/>
          </a:xfrm>
          <a:prstGeom prst="rect">
            <a:avLst/>
          </a:prstGeom>
          <a:solidFill>
            <a:srgbClr val="E9ED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657539" y="2112264"/>
            <a:ext cx="2393899" cy="256032"/>
          </a:xfrm>
          <a:prstGeom prst="rect">
            <a:avLst/>
          </a:prstGeom>
          <a:solidFill>
            <a:srgbClr val="D978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11124590" y="2011680"/>
            <a:ext cx="688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2,500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263640" y="2578608"/>
            <a:ext cx="22850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657539" y="2679192"/>
            <a:ext cx="2393899" cy="256032"/>
          </a:xfrm>
          <a:prstGeom prst="rect">
            <a:avLst/>
          </a:prstGeom>
          <a:solidFill>
            <a:srgbClr val="E9ED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657539" y="2679192"/>
            <a:ext cx="957560" cy="256032"/>
          </a:xfrm>
          <a:prstGeom prst="rect">
            <a:avLst/>
          </a:prstGeom>
          <a:solidFill>
            <a:srgbClr val="D978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11124590" y="2578608"/>
            <a:ext cx="688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1,000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33832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6583680" y="3611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DATA BARS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0" y="39319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 = amount spent.</a:t>
            </a: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Grocery, Vegetables clearly dominates; in Shopping, one Tshirt-and-Jeans purchase is 2.5× the Shoes purchase.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583680" y="5074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 Excel via Conditional Formatting → Data Bars on the pivot table's value column.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 Analytics  |  Nitin's Expense Study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JUNE DATA ·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12014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83794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31520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556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Highest-expense category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23560" y="1755648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— Rs 4,690 (34.6% of total)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532888"/>
            <a:ext cx="112014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31520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59689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+ Shopping combined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623560" y="2596896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4,500 (33.2% of total spend)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374136"/>
            <a:ext cx="112014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1520" y="352044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3152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43814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orders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438144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times, totalling Rs 600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215384"/>
            <a:ext cx="112014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31520" y="43616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31520" y="4361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27939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watched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623560" y="4279392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times, totalling Rs 1,000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5056632"/>
            <a:ext cx="112014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31520" y="5202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31520" y="5202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1206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Least-essential category to trim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623560" y="5120640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— fully discretionary, easiest to cut without affecting essentials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 Analytics  |  Nitin's Expense Study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SIX-MONTH DATA • TASK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Month-wise Expense Trend (Pivot Table + Chart)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554480"/>
          <a:ext cx="74066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074920"/>
          <a:ext cx="7406640" cy="64008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January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February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13,900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15,620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13,140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14,800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13,370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13,560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092440" y="15544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 txBox="1"/>
          <p:nvPr/>
        </p:nvSpPr>
        <p:spPr>
          <a:xfrm>
            <a:off x="836676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HIGHEST-SPEND MONTH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2103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February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8366760" y="2697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15,620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8366760" y="3337560"/>
            <a:ext cx="306324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8"/>
          <p:cNvSpPr txBox="1"/>
          <p:nvPr/>
        </p:nvSpPr>
        <p:spPr>
          <a:xfrm>
            <a:off x="8366760" y="352044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a one-off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Bengal Trip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(Rs 7,500) under Entertainment — without it, February would be one of the lowest months.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 Analytics  |  Nitin's Expense Study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SIX-MONTH DATA • TASK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Category-wise Expense, Jan–Jun (Pivot Table + Data Bars)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02920" y="160020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29000" y="1723095"/>
            <a:ext cx="5852160" cy="266273"/>
          </a:xfrm>
          <a:prstGeom prst="rect">
            <a:avLst/>
          </a:prstGeom>
          <a:solidFill>
            <a:srgbClr val="E9ED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29000" y="1723095"/>
            <a:ext cx="5852160" cy="266273"/>
          </a:xfrm>
          <a:prstGeom prst="rect">
            <a:avLst/>
          </a:prstGeom>
          <a:solidFill>
            <a:srgbClr val="7FB9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9418320" y="160020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30,990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19456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and Bills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29000" y="2317455"/>
            <a:ext cx="5852160" cy="266273"/>
          </a:xfrm>
          <a:prstGeom prst="rect">
            <a:avLst/>
          </a:prstGeom>
          <a:solidFill>
            <a:srgbClr val="E9ED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29000" y="2317455"/>
            <a:ext cx="3028998" cy="266273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9418320" y="219456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16,040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78892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29000" y="2911815"/>
            <a:ext cx="5852160" cy="266273"/>
          </a:xfrm>
          <a:prstGeom prst="rect">
            <a:avLst/>
          </a:prstGeom>
          <a:solidFill>
            <a:srgbClr val="E9ED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429000" y="2911815"/>
            <a:ext cx="2266083" cy="266273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9418320" y="278892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12,000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38328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429000" y="3506175"/>
            <a:ext cx="5852160" cy="266273"/>
          </a:xfrm>
          <a:prstGeom prst="rect">
            <a:avLst/>
          </a:prstGeom>
          <a:solidFill>
            <a:srgbClr val="E9ED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429000" y="3506175"/>
            <a:ext cx="1642910" cy="266273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9418320" y="33832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8,700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397764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Miscellaneous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429000" y="4100535"/>
            <a:ext cx="5852160" cy="266273"/>
          </a:xfrm>
          <a:prstGeom prst="rect">
            <a:avLst/>
          </a:prstGeom>
          <a:solidFill>
            <a:srgbClr val="E9ED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429000" y="4100535"/>
            <a:ext cx="1457847" cy="266273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9418320" y="397764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7,720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457200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429000" y="4694895"/>
            <a:ext cx="5852160" cy="266273"/>
          </a:xfrm>
          <a:prstGeom prst="rect">
            <a:avLst/>
          </a:prstGeom>
          <a:solidFill>
            <a:srgbClr val="E9ED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429000" y="4694895"/>
            <a:ext cx="932871" cy="266273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9418320" y="457200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4,940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516636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and Medicine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429000" y="5289255"/>
            <a:ext cx="5852160" cy="266273"/>
          </a:xfrm>
          <a:prstGeom prst="rect">
            <a:avLst/>
          </a:prstGeom>
          <a:solidFill>
            <a:srgbClr val="E9ED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29000" y="5289255"/>
            <a:ext cx="755361" cy="266273"/>
          </a:xfrm>
          <a:prstGeom prst="rect">
            <a:avLst/>
          </a:prstGeom>
          <a:solidFill>
            <a:srgbClr val="D978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9418320" y="516636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4,000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58978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Highest: </a:t>
            </a: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(Rs 30,990)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Lowest: </a:t>
            </a:r>
            <a:r>
              <a:rPr lang="en-US" sz="1300" b="1" dirty="0">
                <a:solidFill>
                  <a:srgbClr val="D97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and Medicine (Rs 4,000)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 Analytics  |  Nitin's Expense Study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SIX-MONTH DATA • TASK 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Month-wise Expense by Category (Pivot Table)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0378440" cy="2606037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22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January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February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15,620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13,140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13,370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4389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Categories Each Month</a:t>
            </a:r>
            <a:endParaRPr lang="en-US" sz="13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709160"/>
          <a:ext cx="5577840" cy="18059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6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6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January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and Bills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6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February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Entertainment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6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and Bills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6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Miscellaneous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6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and Bills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6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355080" y="43891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 txBox="1"/>
          <p:nvPr/>
        </p:nvSpPr>
        <p:spPr>
          <a:xfrm>
            <a:off x="6629400" y="461772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4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</a:t>
            </a:r>
            <a:r>
              <a:rPr lang="en-US" sz="1300" dirty="0">
                <a:solidFill>
                  <a:srgbClr val="14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top-2 category in </a:t>
            </a:r>
            <a:r>
              <a:rPr lang="en-US" sz="1300" b="1" dirty="0">
                <a:solidFill>
                  <a:srgbClr val="14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 months</a:t>
            </a:r>
            <a:r>
              <a:rPr lang="en-US" sz="1300" dirty="0">
                <a:solidFill>
                  <a:srgbClr val="14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one consistent, essential expense. Entertainment only appears once, driven purely by the February trip.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 Analytics  |  Nitin's Expense Study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SIX-MONTH DATA • TASK 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Movies &amp; Dining Out — Month by Month (Pivot Chart)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00200"/>
          <a:ext cx="7589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275320" y="160020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8549640" y="18288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MOVIE SPEND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20848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June — Rs 1,000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549640" y="2697480"/>
            <a:ext cx="288036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8549640" y="28803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DINING-OUT SPEND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549640" y="31363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January — Rs 1,000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8549640" y="3749040"/>
            <a:ext cx="288036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8549640" y="39319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Dining out stopped completely in Feb, May and June — movies crept up instead, peaking in June.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 Analytics  |  Nitin's Expense Study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SIX-MONTH DATA •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12014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83794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31520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3736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Nitin spent the most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623560" y="1737360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— Rs 15,620, driven by a one-off Rs 7,500 trip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32888"/>
            <a:ext cx="112014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31520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57860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consistent big expense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623560" y="2578608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— top-2 category in 5 of the last 6 months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374136"/>
            <a:ext cx="112014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1520" y="352044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3152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41985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with highest 6-month total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419856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(Rs 30,990); lowest is Doctor and Medicine (Rs 4,000)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215384"/>
            <a:ext cx="112014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31520" y="43616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31520" y="4361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26110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vs Dining out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623560" y="4261104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peaked in June (Rs 1,000); dining out peaked in January (Rs 1,000) then stopped in 3 of 6 months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5056632"/>
            <a:ext cx="112014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31520" y="5202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31520" y="5202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10235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pattern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623560" y="5102352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Excluding the February outlier, monthly spend is fairly steady at Rs 13,000–15,000 — with little left over from a Rs 15,000 income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 Analytics  |  Nitin's Expense Study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41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Helping Nitin Save for His Scooter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32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movie outings at 1–2/month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Entertainment from Rs 1,000 (June) to ~Rs 250–500, saving Rs 500+/month.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32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52628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more, order in less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online orders/month cost Rs 600 — halving this saves ~Rs 300/month.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2461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32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3152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big-ticket shopping ahead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out purchases like the Rs 2,500 Tshirt-and-Jeans buy instead of one large hit.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0" y="32461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32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52628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trips like February's in advance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planned scooter-fund transfer first, then a separate travel budget — not spent from the same pool.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892040"/>
            <a:ext cx="7360920" cy="960120"/>
          </a:xfrm>
          <a:prstGeom prst="roundRect">
            <a:avLst>
              <a:gd name="adj" fmla="val 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31520" y="5010912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Grocery, trim the trimmings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376672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is essential and steady (~Rs 5,000/month) — the real savings sit in Entertainment &amp; Shopping, not there.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92440" y="1600200"/>
            <a:ext cx="3611880" cy="4617720"/>
          </a:xfrm>
          <a:prstGeom prst="roundRect">
            <a:avLst>
              <a:gd name="adj" fmla="val 2025"/>
            </a:avLst>
          </a:prstGeom>
          <a:solidFill>
            <a:srgbClr val="232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836676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MONTHLY SAVINGS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22860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1,000–1,500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30175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per month by trimming Entertainment, Food-delivery and impulse Shopping alone — without touching essentials.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66760" y="4526280"/>
            <a:ext cx="306324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8366760" y="47091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enough to build toward Nitin's scooter fund within a few months — while still enjoying the occasional movie or trip.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1736</Words>
  <Application>Microsoft Office PowerPoint</Application>
  <PresentationFormat>Widescreen</PresentationFormat>
  <Paragraphs>434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Ashritha Annaldesh</cp:lastModifiedBy>
  <cp:revision>3</cp:revision>
  <dcterms:created xsi:type="dcterms:W3CDTF">2026-09-18T08:04:44Z</dcterms:created>
  <dcterms:modified xsi:type="dcterms:W3CDTF">2026-09-22T19:47:50Z</dcterms:modified>
</cp:coreProperties>
</file>